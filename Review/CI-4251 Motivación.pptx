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64" r:id="rId2"/>
    <p:sldId id="258" r:id="rId3"/>
    <p:sldId id="259" r:id="rId4"/>
    <p:sldId id="260" r:id="rId5"/>
    <p:sldId id="263" r:id="rId6"/>
    <p:sldId id="261" r:id="rId7"/>
    <p:sldId id="262" r:id="rId8"/>
    <p:sldId id="268" r:id="rId9"/>
    <p:sldId id="275" r:id="rId10"/>
    <p:sldId id="270" r:id="rId11"/>
    <p:sldId id="269" r:id="rId12"/>
    <p:sldId id="271" r:id="rId13"/>
    <p:sldId id="272" r:id="rId14"/>
    <p:sldId id="273" r:id="rId15"/>
    <p:sldId id="265" r:id="rId16"/>
    <p:sldId id="266" r:id="rId17"/>
    <p:sldId id="267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56C3"/>
    <a:srgbClr val="FFE48F"/>
    <a:srgbClr val="F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5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D7C5E-AEB7-47C7-982D-D72E9B29D63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0D541-9848-405E-A5DD-F37734F04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5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0D541-9848-405E-A5DD-F37734F040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11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4C02-A904-42C3-AA5A-FEC833D46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B8BEB-7B14-190D-7958-8FB6A3B85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6D8C4-B692-6E91-C3D4-66ED38D62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D0D6F-3173-61B6-4EFC-980B86B7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71BCA-6D67-0492-35A5-789489A3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0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37F5-8164-58B6-FF5D-7143DD94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EF74-41A0-EDE1-3D6C-0B9467D0E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7A44E-0847-BA6A-B1BF-CA802203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1B846-61C4-2873-1628-3238D99F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5026-21CF-80A5-8320-58FC0F73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6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DD4BF-552C-F1E3-8CF5-F7B50121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C8DCA-D02D-9758-5D1B-55019B0F7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6D1C0-1365-9A79-515A-9721D7E82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EBB38-EC0C-065C-2927-CB3F3EFD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53873-F605-AF95-D820-F0741082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4DEF5-8B6C-9257-EE8A-F47ABCF94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2D77B-B4A0-C684-E8FD-8DF440232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9ED53-6B95-24D9-F32D-528DC6EB2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92C5D-C4A8-1742-F557-F7CA4A24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78B06-4D1A-0EE9-837F-B0759D1D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F84F-721C-A567-AD1C-CA78A5D8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7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45259-60E0-B37E-E7A9-8CBF5E27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5A769-FAD1-48B2-B6AB-E68E52EDE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71F6D-212D-105A-AB43-59577A11B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3B4D0-DEE4-A8E9-DE9E-97B6ABE69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BC7EB-47E0-249D-D74C-F6FC6D6CA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4D81A-FB35-5670-6B95-9FD1EC8B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1D2C3-B261-55A1-5FD0-5135722F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B548D6-CCA6-0244-6DA3-346E237F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26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0955B-949B-20FF-8AB9-E487F2A08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BEFA2-A792-84EE-F2BE-9CD3EEED7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220FE-3546-EC36-AA6C-34F62C61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A32B3-BF31-82BB-E49C-ADEB629B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7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C1F99-C17D-45B1-AC42-F85278E57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0970B-FBA5-1D78-8C8A-184EABAD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ABD98-7CF0-9416-F32D-4BC9F5F8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6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FBC7-4AC1-7CEB-ACBF-348F98E6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9AF7A-7905-13DB-86A1-975366CA3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FFBCD-CED0-7128-A92A-454EB54EE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E718A-E925-B15B-9323-B7FF418C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4AEE-1BF8-0432-DE7B-4B526C021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362DB-234D-0E9E-A4E1-8163EA17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1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7572C-1218-CFA5-0A72-5AD84EC4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CFE8EF-0C8C-BB8D-1950-C0D5121D9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FBA2C-3CF1-CED1-6D7F-7C91BC42C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A2994-FE07-17F7-4B26-B3BD33733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489C9-9A10-AE65-46B5-B0260977A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59428-E7B4-9825-2F1E-A98D0A37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DD2E-2D99-757D-8864-66768BFD7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74ABE-40F0-777B-69F9-C12976319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698E5-B88A-3BBF-EBFB-0B9CDFE3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20FB7-7EFF-131D-76A5-04312233B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5ECF9-86CD-272C-783B-21536A46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57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E1388-CF97-7752-AF08-CDB2F5DA4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728A8-C4BE-02DE-C0D7-7C07A6C4A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66FBE-D49C-2851-442A-4CC3C95CC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E41F-FF71-5CB9-8007-2D409FCF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28FF0-4596-9EE3-900F-6C42231A6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2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B31C12-4294-4FC0-8FEF-A7B0E6BC4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CB530-1521-9BDB-E0B4-8B75B158A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0D1CB-804E-F635-DB32-5B94B9F94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EFF9E-5FDD-4766-AB80-B476A6B2DCF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BA85-828D-4818-73EF-CECCEBE68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DDEB0-4C70-79EE-B364-71E799007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299DF-D0DF-42B5-8A34-370FCB677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2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E68CE5-77EC-C30B-921C-44B7012F8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6644"/>
          <a:stretch>
            <a:fillRect/>
          </a:stretch>
        </p:blipFill>
        <p:spPr>
          <a:xfrm>
            <a:off x="1049830" y="643466"/>
            <a:ext cx="1009234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05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B1A3A74-47BE-5FE0-E3EA-E64188E50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1" b="-2"/>
          <a:stretch>
            <a:fillRect/>
          </a:stretch>
        </p:blipFill>
        <p:spPr bwMode="auto">
          <a:xfrm>
            <a:off x="473919" y="2837949"/>
            <a:ext cx="1889278" cy="250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1D4E82B-5D98-1F6D-ACE0-51F91D87E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55" y="1421729"/>
            <a:ext cx="1855971" cy="250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DA661EC-5A10-CE8A-D8CF-61CD4B6EF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376" y="4222898"/>
            <a:ext cx="1883838" cy="2509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undefined">
            <a:extLst>
              <a:ext uri="{FF2B5EF4-FFF2-40B4-BE49-F238E27FC236}">
                <a16:creationId xmlns:a16="http://schemas.microsoft.com/office/drawing/2014/main" id="{25C91948-F9A8-F8AC-2F0A-5F540F98C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879" y="1421728"/>
            <a:ext cx="1997544" cy="250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CF448DD-7DC9-2B04-3130-11A8AA6B9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994" y="4213916"/>
            <a:ext cx="1983023" cy="250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5C2D9231-D0E7-C8D9-6218-1C8EBC0B3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824" y="1421729"/>
            <a:ext cx="1852284" cy="2509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3B1D4257-F1B3-DDE2-4877-1D274E679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994" y="4221525"/>
            <a:ext cx="1964269" cy="2501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D989B1-4D57-B958-737C-7EDA91C0F3A9}"/>
              </a:ext>
            </a:extLst>
          </p:cNvPr>
          <p:cNvSpPr/>
          <p:nvPr/>
        </p:nvSpPr>
        <p:spPr>
          <a:xfrm>
            <a:off x="-1" y="146304"/>
            <a:ext cx="12192001" cy="955933"/>
          </a:xfrm>
          <a:prstGeom prst="rect">
            <a:avLst/>
          </a:prstGeom>
          <a:solidFill>
            <a:srgbClr val="FFE4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From Euler to the Foundational Crisis of Mathematics to Kurt Gödel incompleteness theorems</a:t>
            </a:r>
          </a:p>
        </p:txBody>
      </p:sp>
    </p:spTree>
    <p:extLst>
      <p:ext uri="{BB962C8B-B14F-4D97-AF65-F5344CB8AC3E}">
        <p14:creationId xmlns:p14="http://schemas.microsoft.com/office/powerpoint/2010/main" val="56090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9D2D-9F6B-C6FA-902A-0C1AE11B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94" y="286603"/>
            <a:ext cx="11806068" cy="1128311"/>
          </a:xfrm>
        </p:spPr>
        <p:txBody>
          <a:bodyPr/>
          <a:lstStyle/>
          <a:p>
            <a:pPr algn="ctr"/>
            <a:r>
              <a:rPr lang="en-US" dirty="0"/>
              <a:t>Alonzo Church &amp; Alan Turing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09C9A6-7868-1A5D-6DBB-2A9C0FB40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220" y="1690893"/>
            <a:ext cx="4984361" cy="4553585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>
              <a:spcBef>
                <a:spcPts val="600"/>
              </a:spcBef>
            </a:pPr>
            <a:endParaRPr lang="es-E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s-ES" sz="1600" dirty="0"/>
              <a:t>Lambda Cálculo:</a:t>
            </a:r>
          </a:p>
          <a:p>
            <a:pPr>
              <a:spcBef>
                <a:spcPts val="600"/>
              </a:spcBef>
            </a:pPr>
            <a:r>
              <a:rPr lang="es-ES" sz="1600" dirty="0"/>
              <a:t> Un símbolo </a:t>
            </a:r>
            <a:r>
              <a:rPr lang="es-ES" sz="1600" i="1" dirty="0"/>
              <a:t>x</a:t>
            </a:r>
            <a:r>
              <a:rPr lang="es-ES" sz="1600" dirty="0"/>
              <a:t> es un λ-term</a:t>
            </a:r>
          </a:p>
          <a:p>
            <a:pPr>
              <a:spcBef>
                <a:spcPts val="600"/>
              </a:spcBef>
            </a:pPr>
            <a:r>
              <a:rPr lang="es-ES" sz="1600" i="1" noProof="1"/>
              <a:t> (λx.t)</a:t>
            </a:r>
            <a:r>
              <a:rPr lang="es-ES" sz="1600" noProof="1"/>
              <a:t> es un λ-term llamado "abstracción funcional"</a:t>
            </a:r>
          </a:p>
          <a:p>
            <a:pPr>
              <a:spcBef>
                <a:spcPts val="600"/>
              </a:spcBef>
            </a:pPr>
            <a:r>
              <a:rPr lang="es-ES" sz="1600" i="1" dirty="0"/>
              <a:t> (t s)</a:t>
            </a:r>
            <a:r>
              <a:rPr lang="es-ES" sz="1600" dirty="0"/>
              <a:t> es un λ-term llamado "aplicación"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0C4F8-BC00-0036-4FC9-24DE34B1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581" y="1684421"/>
            <a:ext cx="3401007" cy="45600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78F1C8-593D-171D-C323-069D3E6AC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980" y="1684421"/>
            <a:ext cx="4997289" cy="29744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12DE127-A5ED-DA9F-8DEA-15B1C4103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94" y="1684421"/>
            <a:ext cx="3410426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42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78A6-17EE-4FA0-FC6B-CBF691E57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75942"/>
          </a:xfrm>
        </p:spPr>
        <p:txBody>
          <a:bodyPr/>
          <a:lstStyle/>
          <a:p>
            <a:pPr algn="ctr"/>
            <a:r>
              <a:rPr lang="en-US" dirty="0"/>
              <a:t>LISP - John McCarthy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7184E-5E4D-4F06-9E66-F6826F98A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312118" cy="4023360"/>
          </a:xfrm>
        </p:spPr>
        <p:txBody>
          <a:bodyPr>
            <a:normAutofit/>
          </a:bodyPr>
          <a:lstStyle/>
          <a:p>
            <a:r>
              <a:rPr lang="en-US" sz="1800" dirty="0"/>
              <a:t>(define (list-of-squares n)</a:t>
            </a:r>
          </a:p>
          <a:p>
            <a:r>
              <a:rPr lang="en-US" sz="1800" dirty="0"/>
              <a:t>  (let loop ((</a:t>
            </a:r>
            <a:r>
              <a:rPr lang="en-US" sz="1800" dirty="0" err="1"/>
              <a:t>i</a:t>
            </a:r>
            <a:r>
              <a:rPr lang="en-US" sz="1800" dirty="0"/>
              <a:t> n) (res '()))</a:t>
            </a:r>
          </a:p>
          <a:p>
            <a:r>
              <a:rPr lang="en-US" sz="1800" dirty="0"/>
              <a:t>    (if (&lt; </a:t>
            </a:r>
            <a:r>
              <a:rPr lang="en-US" sz="1800" dirty="0" err="1"/>
              <a:t>i</a:t>
            </a:r>
            <a:r>
              <a:rPr lang="en-US" sz="1800" dirty="0"/>
              <a:t> 0)</a:t>
            </a:r>
          </a:p>
          <a:p>
            <a:r>
              <a:rPr lang="en-US" sz="1800" dirty="0"/>
              <a:t>        res</a:t>
            </a:r>
          </a:p>
          <a:p>
            <a:r>
              <a:rPr lang="en-US" sz="1800" dirty="0"/>
              <a:t>        (loop (- </a:t>
            </a:r>
            <a:r>
              <a:rPr lang="en-US" sz="1800" dirty="0" err="1"/>
              <a:t>i</a:t>
            </a:r>
            <a:r>
              <a:rPr lang="en-US" sz="1800" dirty="0"/>
              <a:t> 1) (cons (*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) res)))))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(list-of-squares 9)</a:t>
            </a:r>
          </a:p>
          <a:p>
            <a:r>
              <a:rPr lang="en-US" sz="1800" dirty="0"/>
              <a:t>===&gt; (0 1 4 9 16 25 36 49 64 81)</a:t>
            </a:r>
          </a:p>
          <a:p>
            <a:endParaRPr lang="en-US" sz="1800" dirty="0"/>
          </a:p>
        </p:txBody>
      </p:sp>
      <p:pic>
        <p:nvPicPr>
          <p:cNvPr id="3074" name="Picture 2" descr="John McCarthy: Computer scientist known as the father of AI | The ...">
            <a:extLst>
              <a:ext uri="{FF2B5EF4-FFF2-40B4-BE49-F238E27FC236}">
                <a16:creationId xmlns:a16="http://schemas.microsoft.com/office/drawing/2014/main" id="{1E4B633B-3DD9-8F65-A9E3-214949234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650" y="1845734"/>
            <a:ext cx="5687613" cy="379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29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37006-8632-182C-1ED1-700FB2A5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>
            <a:normAutofit/>
          </a:bodyPr>
          <a:lstStyle/>
          <a:p>
            <a:r>
              <a:rPr lang="en-US" dirty="0"/>
              <a:t>Robin Milner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6B01C41A-1887-0B87-7ECA-5ABB4F344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769" y="2198914"/>
            <a:ext cx="6574973" cy="367018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LCF</a:t>
            </a:r>
          </a:p>
          <a:p>
            <a:r>
              <a:rPr lang="en-US" sz="2400" dirty="0"/>
              <a:t>ML</a:t>
            </a:r>
          </a:p>
          <a:p>
            <a:r>
              <a:rPr lang="en-US" sz="2400" dirty="0"/>
              <a:t>CCS</a:t>
            </a:r>
          </a:p>
          <a:p>
            <a:r>
              <a:rPr lang="el-GR" sz="2400" i="1" dirty="0"/>
              <a:t>π</a:t>
            </a:r>
            <a:r>
              <a:rPr lang="el-GR" sz="2400" dirty="0"/>
              <a:t>-</a:t>
            </a:r>
            <a:r>
              <a:rPr lang="en-US" sz="2400" dirty="0"/>
              <a:t>calculus</a:t>
            </a:r>
          </a:p>
          <a:p>
            <a:r>
              <a:rPr lang="en-US" sz="2400" dirty="0"/>
              <a:t>Hindley-Milner algorithm (</a:t>
            </a:r>
            <a:r>
              <a:rPr lang="es-419" sz="2400" noProof="0" dirty="0"/>
              <a:t>inferencia de tipos</a:t>
            </a:r>
            <a:r>
              <a:rPr lang="en-US" sz="2400" dirty="0"/>
              <a:t>)</a:t>
            </a:r>
          </a:p>
        </p:txBody>
      </p:sp>
      <p:pic>
        <p:nvPicPr>
          <p:cNvPr id="2050" name="Picture 2" descr="Robin Milner | British Computer Scientist &amp; Father of MLCC | Britannica">
            <a:extLst>
              <a:ext uri="{FF2B5EF4-FFF2-40B4-BE49-F238E27FC236}">
                <a16:creationId xmlns:a16="http://schemas.microsoft.com/office/drawing/2014/main" id="{0A126490-0169-5B0B-6F48-C8C399DFD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050"/>
          <a:stretch>
            <a:fillRect/>
          </a:stretch>
        </p:blipFill>
        <p:spPr bwMode="auto">
          <a:xfrm>
            <a:off x="633999" y="640081"/>
            <a:ext cx="4001315" cy="53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21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5AE3-719A-FD30-8EB9-88BED62B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David Turner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5B911-BAFA-26AF-921D-78ECDC3D4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4644" y="1845734"/>
            <a:ext cx="5881035" cy="404775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Lazy Evaluation – </a:t>
            </a:r>
            <a:r>
              <a:rPr lang="es-419" noProof="0" dirty="0"/>
              <a:t>Evaluación Perezosa</a:t>
            </a:r>
          </a:p>
          <a:p>
            <a:pPr marL="0" indent="0">
              <a:buNone/>
            </a:pPr>
            <a:r>
              <a:rPr lang="en-US" noProof="0" dirty="0"/>
              <a:t>Combinator Graph Reduction</a:t>
            </a:r>
          </a:p>
          <a:p>
            <a:pPr marL="0" indent="0">
              <a:buNone/>
            </a:pPr>
            <a:r>
              <a:rPr lang="en-US" noProof="0" dirty="0"/>
              <a:t>Polymorphic Types</a:t>
            </a:r>
            <a:r>
              <a:rPr lang="es-419" dirty="0"/>
              <a:t> – Tipos Polimorfos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r>
              <a:rPr lang="es-419" dirty="0"/>
              <a:t>SASL</a:t>
            </a:r>
          </a:p>
          <a:p>
            <a:pPr marL="0" indent="0">
              <a:buNone/>
            </a:pPr>
            <a:r>
              <a:rPr lang="es-419" dirty="0"/>
              <a:t>KRC</a:t>
            </a:r>
          </a:p>
          <a:p>
            <a:pPr marL="0" indent="0">
              <a:buNone/>
            </a:pPr>
            <a:r>
              <a:rPr lang="es-419" dirty="0"/>
              <a:t>Miranda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100" name="Picture 4" descr="David Turner (computer scientist) - Alchetron, the free social encyclopedia">
            <a:extLst>
              <a:ext uri="{FF2B5EF4-FFF2-40B4-BE49-F238E27FC236}">
                <a16:creationId xmlns:a16="http://schemas.microsoft.com/office/drawing/2014/main" id="{08B9CDA4-A90A-D04E-1270-E398512FC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79" y="1845734"/>
            <a:ext cx="4000903" cy="404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78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Haskell | Semantic Scholar">
            <a:extLst>
              <a:ext uri="{FF2B5EF4-FFF2-40B4-BE49-F238E27FC236}">
                <a16:creationId xmlns:a16="http://schemas.microsoft.com/office/drawing/2014/main" id="{9B0A4BE1-8C71-C182-FCD4-11768B185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8" r="1" b="6837"/>
          <a:stretch>
            <a:fillRect/>
          </a:stretch>
        </p:blipFill>
        <p:spPr bwMode="auto">
          <a:xfrm>
            <a:off x="196850" y="173518"/>
            <a:ext cx="11798300" cy="651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985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1B32A7-6EF6-B245-9E1D-7E12AB3CE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784" y="437732"/>
            <a:ext cx="6668431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48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2359-67DE-843D-6E46-EA21E371E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34472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ZenSheet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Project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31266E-4A65-7646-4665-6EEE60952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712" y="4684407"/>
            <a:ext cx="3886742" cy="15560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334782-5549-3CF3-2598-0C21DC3A4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46" y="5109967"/>
            <a:ext cx="3886742" cy="7049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4497B4-1073-C7E4-C53B-EE9A03A7936E}"/>
              </a:ext>
            </a:extLst>
          </p:cNvPr>
          <p:cNvSpPr txBox="1"/>
          <p:nvPr/>
        </p:nvSpPr>
        <p:spPr>
          <a:xfrm>
            <a:off x="7227712" y="6415972"/>
            <a:ext cx="48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(optional ZenSheet tour in the next 5 slides) =&gt;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0204B-C781-716D-6823-67725A5E3E4D}"/>
              </a:ext>
            </a:extLst>
          </p:cNvPr>
          <p:cNvSpPr txBox="1"/>
          <p:nvPr/>
        </p:nvSpPr>
        <p:spPr>
          <a:xfrm>
            <a:off x="0" y="117301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b="1" noProof="0" dirty="0">
                <a:solidFill>
                  <a:schemeClr val="accent3">
                    <a:lumMod val="75000"/>
                  </a:schemeClr>
                </a:solidFill>
              </a:rPr>
              <a:t>Una expedición teórica y practica para unificar las hojas de cálculo con ambientes modernos de programación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2C6E2-E81C-70A3-E502-28D19F48B834}"/>
              </a:ext>
            </a:extLst>
          </p:cNvPr>
          <p:cNvSpPr txBox="1"/>
          <p:nvPr/>
        </p:nvSpPr>
        <p:spPr>
          <a:xfrm>
            <a:off x="0" y="1634714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419" dirty="0"/>
              <a:t>Lakebolt Research fue fundada el año 2015, al haber logrado prueba clara del concepto de ZenSheet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419" dirty="0"/>
              <a:t>SPLASH 2017</a:t>
            </a:r>
            <a:r>
              <a:rPr lang="es-419" noProof="0" dirty="0"/>
              <a:t> (Vancouver) – </a:t>
            </a:r>
            <a:r>
              <a:rPr lang="es-419" dirty="0"/>
              <a:t>LIVE 2017: ZenSheet demo - Mónica Figuera </a:t>
            </a:r>
            <a:r>
              <a:rPr lang="es-419" noProof="0" dirty="0"/>
              <a:t>“</a:t>
            </a:r>
            <a:r>
              <a:rPr lang="es-419" i="1" noProof="0" dirty="0"/>
              <a:t>ZenSheet Studio</a:t>
            </a:r>
            <a:r>
              <a:rPr lang="es-419" noProof="0" dirty="0"/>
              <a:t>” </a:t>
            </a:r>
            <a:r>
              <a:rPr lang="es-419" dirty="0"/>
              <a:t>publicación </a:t>
            </a:r>
            <a:r>
              <a:rPr lang="es-419" noProof="0" dirty="0"/>
              <a:t>en la ACM DL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419" dirty="0"/>
              <a:t>Lambda Days 2020 (Krakow) – demo de ZenSheet (45 min) usando la nueva implementación de Lilly, de Javier López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419" noProof="0" dirty="0"/>
              <a:t>ICICT 2021 (Shanghái – remote)</a:t>
            </a:r>
            <a:r>
              <a:rPr lang="es-419" dirty="0"/>
              <a:t> –  “</a:t>
            </a:r>
            <a:r>
              <a:rPr lang="en-US" i="1" noProof="0" dirty="0"/>
              <a:t>Towards Wide-Spectrum Spreadsheet Computing</a:t>
            </a:r>
            <a:r>
              <a:rPr lang="es-419" dirty="0"/>
              <a:t>” publicación en IEEE Xplore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419" noProof="0" dirty="0"/>
              <a:t>ISEC 2023 (Maryland)</a:t>
            </a:r>
            <a:r>
              <a:rPr lang="es-419" dirty="0"/>
              <a:t> –  “</a:t>
            </a:r>
            <a:r>
              <a:rPr lang="en-US" dirty="0"/>
              <a:t>An Expression-Oriented Approach to Programming Education”</a:t>
            </a:r>
            <a:r>
              <a:rPr lang="es-419" dirty="0"/>
              <a:t> publicación en IEEE Xplore</a:t>
            </a:r>
            <a:endParaRPr lang="es-419" noProof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419" dirty="0"/>
              <a:t>ICFP 2024 (Milán) –  Daniel Pinto logra el podio por su trabajo en la semántica operacional de Zilly</a:t>
            </a:r>
            <a:endParaRPr lang="es-419" noProof="0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18F481-446C-3AED-91AC-2A5225843C18}"/>
              </a:ext>
            </a:extLst>
          </p:cNvPr>
          <p:cNvSpPr txBox="1"/>
          <p:nvPr/>
        </p:nvSpPr>
        <p:spPr>
          <a:xfrm>
            <a:off x="4621" y="389313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b="1" noProof="0" dirty="0">
                <a:solidFill>
                  <a:schemeClr val="accent3">
                    <a:lumMod val="75000"/>
                  </a:schemeClr>
                </a:solidFill>
              </a:rPr>
              <a:t>La Universidad Simón Bolívar, en particular el profesor Baralt y el profesor Flaviani, han sido un gran apoyo …</a:t>
            </a:r>
          </a:p>
          <a:p>
            <a:pPr algn="ctr"/>
            <a:r>
              <a:rPr lang="es-419" b="1" dirty="0">
                <a:solidFill>
                  <a:schemeClr val="accent3">
                    <a:lumMod val="75000"/>
                  </a:schemeClr>
                </a:solidFill>
              </a:rPr>
              <a:t>… y las contribuciones de estudiantes y egresados de la USB ha permitido llevar ZenSheet más lejos de lo esperado</a:t>
            </a:r>
            <a:endParaRPr lang="es-419" b="1" noProof="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274D9F-396D-B12F-2E28-52007F8EF719}"/>
              </a:ext>
            </a:extLst>
          </p:cNvPr>
          <p:cNvSpPr txBox="1"/>
          <p:nvPr/>
        </p:nvSpPr>
        <p:spPr>
          <a:xfrm>
            <a:off x="6544220" y="211249"/>
            <a:ext cx="7204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47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540885-BB07-9233-5738-09034B1C1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504"/>
            <a:ext cx="12192000" cy="623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682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2AC02-A9A1-A653-91F4-97D9E71A8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2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B7C0E06-6EE7-4DC1-8358-E6A2581DF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8F7C43-6CA0-45DA-EE3C-473014BC5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35" b="-1"/>
          <a:stretch>
            <a:fillRect/>
          </a:stretch>
        </p:blipFill>
        <p:spPr>
          <a:xfrm rot="5400000">
            <a:off x="445135" y="755522"/>
            <a:ext cx="5743612" cy="5346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FCAEAD-D50B-B118-1FA8-84C2635F5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15" b="-2"/>
          <a:stretch>
            <a:fillRect/>
          </a:stretch>
        </p:blipFill>
        <p:spPr>
          <a:xfrm rot="5400000">
            <a:off x="5993931" y="746201"/>
            <a:ext cx="5743612" cy="536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88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6176C2-6FDE-882C-254D-2A21156CA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06" y="0"/>
            <a:ext cx="105537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20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3F00E0-95CA-C917-D3BC-F34EA22A6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69" y="650497"/>
            <a:ext cx="6055506" cy="557106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93EAA-5F1E-CD64-9F06-9237D708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873" y="797090"/>
            <a:ext cx="3854945" cy="216840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2C5E6-51EC-7BB7-4594-617E2049B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95873" y="4068460"/>
            <a:ext cx="3854945" cy="183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84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8FF463-8533-CE63-3ADE-D99E2628F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91" y="97603"/>
            <a:ext cx="8846049" cy="663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59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63C31D-C79C-41C4-A226-755315AC2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316" y="89010"/>
            <a:ext cx="8856324" cy="664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53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29A28-CA80-5FAE-D228-F8BC2038F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707" y="104277"/>
            <a:ext cx="8872029" cy="666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98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519EBD-6AE0-216B-47B4-26F8E4EFE4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FE48F">
                  <a:shade val="30000"/>
                  <a:satMod val="115000"/>
                </a:srgbClr>
              </a:gs>
              <a:gs pos="50000">
                <a:srgbClr val="FFE48F">
                  <a:shade val="67500"/>
                  <a:satMod val="115000"/>
                </a:srgbClr>
              </a:gs>
              <a:gs pos="100000">
                <a:srgbClr val="FFE48F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5BB3B-F94D-91CD-E79A-8E7DB3E53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27" y="365125"/>
            <a:ext cx="11785600" cy="1325563"/>
          </a:xfrm>
        </p:spPr>
        <p:txBody>
          <a:bodyPr/>
          <a:lstStyle/>
          <a:p>
            <a:pPr algn="ctr"/>
            <a:r>
              <a:rPr lang="en-US" dirty="0"/>
              <a:t>Map, Filter, Fold</a:t>
            </a:r>
            <a:br>
              <a:rPr lang="en-US" dirty="0"/>
            </a:br>
            <a:r>
              <a:rPr lang="en-US" sz="2800" dirty="0"/>
              <a:t>in </a:t>
            </a:r>
            <a:r>
              <a:rPr lang="en-US" sz="2800" dirty="0">
                <a:solidFill>
                  <a:srgbClr val="7030A0"/>
                </a:solidFill>
              </a:rPr>
              <a:t>Lilly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80B16-1444-1F2F-1B39-727916223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27" y="1834769"/>
            <a:ext cx="11785600" cy="4351338"/>
          </a:xfrm>
          <a:gradFill flip="none" rotWithShape="1">
            <a:gsLst>
              <a:gs pos="0">
                <a:schemeClr val="tx2">
                  <a:lumMod val="25000"/>
                  <a:lumOff val="75000"/>
                  <a:tint val="66000"/>
                  <a:satMod val="160000"/>
                </a:schemeClr>
              </a:gs>
              <a:gs pos="50000">
                <a:schemeClr val="tx2">
                  <a:lumMod val="25000"/>
                  <a:lumOff val="75000"/>
                  <a:tint val="44500"/>
                  <a:satMod val="160000"/>
                </a:schemeClr>
              </a:gs>
              <a:gs pos="100000">
                <a:schemeClr val="tx2">
                  <a:lumMod val="25000"/>
                  <a:lumOff val="75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noProof="1"/>
              <a:t>Map</a:t>
            </a:r>
          </a:p>
          <a:p>
            <a:r>
              <a:rPr lang="en-US" sz="1800" noProof="1"/>
              <a:t>:: fmapz := fn(functor, seq) -&gt; if(seq = [], [], cons(functor(head(seq)), fmapz(functor, tail(seq))));</a:t>
            </a:r>
          </a:p>
          <a:p>
            <a:endParaRPr lang="en-US" sz="2200" noProof="1"/>
          </a:p>
          <a:p>
            <a:pPr marL="0" indent="0">
              <a:buNone/>
            </a:pPr>
            <a:r>
              <a:rPr lang="en-US" sz="2000" noProof="1"/>
              <a:t>Filter</a:t>
            </a:r>
          </a:p>
          <a:p>
            <a:r>
              <a:rPr lang="en-US" sz="1800" noProof="1"/>
              <a:t>:: filterz := fn(pred, seq) -&gt; if(pred(head(seq)), cons(pred(head(seq)), filterz(pred, tail(seq))), filterz(pred, tail(seq))) ); </a:t>
            </a:r>
          </a:p>
          <a:p>
            <a:endParaRPr lang="en-US" sz="1800" noProof="1"/>
          </a:p>
          <a:p>
            <a:pPr marL="0" indent="0">
              <a:buNone/>
            </a:pPr>
            <a:r>
              <a:rPr lang="en-US" sz="2000" noProof="1"/>
              <a:t>Fold</a:t>
            </a:r>
          </a:p>
          <a:p>
            <a:r>
              <a:rPr lang="en-US" sz="1800" noProof="1"/>
              <a:t>:: foldlz := fn(fn2, init, seq) -&gt; if(seq = [], init, foldlz(fn2, fn2(init, head(seq)), tail(seq)));	// fold left</a:t>
            </a:r>
          </a:p>
          <a:p>
            <a:r>
              <a:rPr lang="en-US" sz="1800" noProof="1"/>
              <a:t>:: foldrz := fn(fn2, init, seq) -&gt; if(seq = [], init, fn2(head(seq), foldrz(fn2, init, tail(seq))));	// fold right</a:t>
            </a:r>
          </a:p>
          <a:p>
            <a:endParaRPr lang="en-US" sz="1800" noProof="1"/>
          </a:p>
        </p:txBody>
      </p:sp>
    </p:spTree>
    <p:extLst>
      <p:ext uri="{BB962C8B-B14F-4D97-AF65-F5344CB8AC3E}">
        <p14:creationId xmlns:p14="http://schemas.microsoft.com/office/powerpoint/2010/main" val="4213633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1142</TotalTime>
  <Words>505</Words>
  <Application>Microsoft Office PowerPoint</Application>
  <PresentationFormat>Widescreen</PresentationFormat>
  <Paragraphs>63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Alonzo Church &amp; Alan Turing</vt:lpstr>
      <vt:lpstr>LISP - John McCarthy</vt:lpstr>
      <vt:lpstr>Robin Milner</vt:lpstr>
      <vt:lpstr>David Turner</vt:lpstr>
      <vt:lpstr>PowerPoint Presentation</vt:lpstr>
      <vt:lpstr>PowerPoint Presentation</vt:lpstr>
      <vt:lpstr>The ZenSheet 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Map, Filter, Fold in Lilly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Enzo Alda</dc:creator>
  <cp:lastModifiedBy>Enzo Alda</cp:lastModifiedBy>
  <cp:revision>17</cp:revision>
  <dcterms:created xsi:type="dcterms:W3CDTF">2026-04-27T08:41:09Z</dcterms:created>
  <dcterms:modified xsi:type="dcterms:W3CDTF">2026-04-28T03:46:34Z</dcterms:modified>
</cp:coreProperties>
</file>